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6" r:id="rId3"/>
    <p:sldId id="267" r:id="rId4"/>
    <p:sldId id="257" r:id="rId5"/>
    <p:sldId id="258" r:id="rId6"/>
    <p:sldId id="259" r:id="rId7"/>
    <p:sldId id="260" r:id="rId8"/>
    <p:sldId id="279" r:id="rId9"/>
    <p:sldId id="261" r:id="rId10"/>
    <p:sldId id="280" r:id="rId11"/>
    <p:sldId id="262" r:id="rId12"/>
    <p:sldId id="263" r:id="rId13"/>
    <p:sldId id="264" r:id="rId14"/>
    <p:sldId id="265" r:id="rId15"/>
    <p:sldId id="278" r:id="rId16"/>
    <p:sldId id="268" r:id="rId17"/>
    <p:sldId id="269" r:id="rId18"/>
    <p:sldId id="270" r:id="rId19"/>
    <p:sldId id="271" r:id="rId20"/>
    <p:sldId id="281" r:id="rId21"/>
    <p:sldId id="273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717"/>
  </p:normalViewPr>
  <p:slideViewPr>
    <p:cSldViewPr snapToGrid="0">
      <p:cViewPr varScale="1">
        <p:scale>
          <a:sx n="107" d="100"/>
          <a:sy n="107" d="100"/>
        </p:scale>
        <p:origin x="52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8158D-865C-9B4E-86E4-F6EA4A7504E0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034B8E-8E8B-8542-A0D7-41EBCF9F9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565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034B8E-8E8B-8542-A0D7-41EBCF9F93D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96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F30A-3B6E-3918-EB51-BA1ED9023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4305EB-6A43-1514-5200-38043F983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5E087-EDEF-E4E0-A7A5-C0EEE4D58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D17B-AE1C-B846-ADA1-490E6656F782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2489E-FF0F-084B-B028-4030974DA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9F0AD-2D29-E898-1D25-A7493E90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50FC-0D9C-044D-8BBE-0A41F43864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009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5B7CC-3E1C-8812-8E85-7A0917EFF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A370B-E329-57EA-88FA-6CE0DB652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E7EB6-DFA8-4EDD-8283-67F85BE6C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D17B-AE1C-B846-ADA1-490E6656F782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090AF-038B-888D-55A7-B98AD5BF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AAE9C-398D-A2B9-1508-DE4C6211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50FC-0D9C-044D-8BBE-0A41F43864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792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6F02F-DAFA-B6A1-7343-1EFB2B36D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12EC4-92F2-0F69-610C-755BE2A7A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979F9-7B07-D677-AEE1-644C70E2C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D17B-AE1C-B846-ADA1-490E6656F782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528F7-6991-F41E-8C04-D269C938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202F3-07DF-D05E-6345-EEF0F0B61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50FC-0D9C-044D-8BBE-0A41F43864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02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1EA2A-9CEC-EC0F-834C-7A2577310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FABD2-EE61-FA2A-EF77-F9D9CFE43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C6D21-1A93-3CE7-3F8C-A25530214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0AC08-1A2F-9A78-26FA-035331810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D17B-AE1C-B846-ADA1-490E6656F782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47B9C-DF83-D4E2-A594-91E130734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93A2A-EFFC-400A-1D84-F997D908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50FC-0D9C-044D-8BBE-0A41F43864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399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176C-A21F-9012-20D3-A3D0DC52D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5710F-6D07-1A8C-94F1-8EAC643D4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93F5E-7C9A-18F5-AAAE-E458BF1BC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D80034-A6EC-FA74-2B54-46E29FAD2C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FF726-482F-9384-8815-3B09027782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468B8-BDB3-8B98-9C46-06F43428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D17B-AE1C-B846-ADA1-490E6656F782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7A3D1-797C-1732-DC47-304C0482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81A3AE-AC8D-7446-1C10-7B496B0F4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50FC-0D9C-044D-8BBE-0A41F43864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998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2F4D2-660A-5974-55F4-44CC6B322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AF771-C030-733C-FF5C-3C24B37B9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D17B-AE1C-B846-ADA1-490E6656F782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02184B-2D02-B5B3-8D62-B19186D49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61980-4B69-7FD2-A2A4-8CF33E920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50FC-0D9C-044D-8BBE-0A41F43864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8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5DC700-9B45-DFA4-FCED-E299D6FD5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D17B-AE1C-B846-ADA1-490E6656F782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2E600-3C4E-7058-C405-0B7EE350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59834-6D14-009A-344B-4A8302399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50FC-0D9C-044D-8BBE-0A41F43864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773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A3C0F-193E-EDDF-77F0-CD24D5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601AE-F36A-8DA3-9E17-B079D3186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61788E-1E0C-9957-74D8-9C828820E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400FD-942D-B338-32EE-1AD705F7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D17B-AE1C-B846-ADA1-490E6656F782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A376F-30D9-2CCC-EA14-4F1A30C7F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65E38-8B73-170C-A99A-3A708E072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50FC-0D9C-044D-8BBE-0A41F43864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474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1D928-67E4-2A1C-2B9F-57A5D29AF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6822F8-204D-7ED9-FDEA-9970CE1A7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7FB5C-2FFF-0762-CEC1-94D6AD6D7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84C24-2841-DD90-7225-8ED32CFB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D17B-AE1C-B846-ADA1-490E6656F782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360CC-8A54-C0A5-FE9B-402050A7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9FADA-35CA-593B-CBEE-F304D9EB7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50FC-0D9C-044D-8BBE-0A41F43864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188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251F-5490-C0E3-D39B-C986B1A30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0BAB78-F8BE-A915-C5BB-B56FEC11A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3FBCA-BD8E-70EC-4745-53ABA822F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D17B-AE1C-B846-ADA1-490E6656F782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25DB9-BD62-43A8-0EF8-C7B8C208F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210D1-6F9C-FF17-6296-993392DD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50FC-0D9C-044D-8BBE-0A41F43864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15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EAA880-F3C1-ED41-BA8C-2CA72ADA9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10F8B-796A-5BF6-B39B-52FCC3A95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56EF1-1B1B-31D0-BD00-453B3ECD0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D17B-AE1C-B846-ADA1-490E6656F782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4BEE6-B423-14EE-E7E5-8CADF27A0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337E0-557C-1A96-4DD8-6062BCAB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50FC-0D9C-044D-8BBE-0A41F43864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14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4ED7D0-0B4F-97C6-460D-541F294A5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64F4B-F140-DEA5-2B59-5B0E15547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65397-3C3A-9E5A-4534-EEC8DDBD4E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BD17B-AE1C-B846-ADA1-490E6656F782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DD107-A6EA-A52B-41A1-BC764B946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E4928-7428-8593-D2A3-EC852A36B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650FC-0D9C-044D-8BBE-0A41F43864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41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eee.org/conferences/publishing/template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9DC98-1E7C-9D90-E56A-6AD9D2D851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Penilaian Tugas Project ET4243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0E48A-16EA-67F3-5B8F-AD6310B1BC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15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4EB70-0470-BC8E-604D-DCDF1D5BF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Penilian Tugas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821B3-A42C-4C15-5EB4-039DBD617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Komponen penilaian</a:t>
            </a:r>
          </a:p>
          <a:p>
            <a:r>
              <a:rPr lang="en-US" dirty="0"/>
              <a:t>Presentasi Project (50%): </a:t>
            </a:r>
          </a:p>
          <a:p>
            <a:pPr lvl="1"/>
            <a:r>
              <a:rPr lang="en-US" dirty="0"/>
              <a:t>Presentasi Progres 1, 2, 3</a:t>
            </a:r>
          </a:p>
          <a:p>
            <a:pPr lvl="1"/>
            <a:r>
              <a:rPr lang="en-US" dirty="0"/>
              <a:t>Presentasi final</a:t>
            </a:r>
          </a:p>
          <a:p>
            <a:pPr lvl="2"/>
            <a:r>
              <a:rPr lang="en-US" dirty="0"/>
              <a:t>Tempat: R Kuliah Telmat, Hari/Tanggal Rabu, 10 Juni 2026 Waktu 10.00 – 12.30</a:t>
            </a:r>
          </a:p>
          <a:p>
            <a:r>
              <a:rPr lang="en-US" dirty="0"/>
              <a:t>Laporan tertulis (50%)</a:t>
            </a:r>
          </a:p>
          <a:p>
            <a:pPr lvl="1"/>
            <a:r>
              <a:rPr lang="en-US" dirty="0"/>
              <a:t>Format </a:t>
            </a:r>
            <a:r>
              <a:rPr lang="en-US" i="1" dirty="0"/>
              <a:t>Manuscript Templates for Conference Proceedings IEEE </a:t>
            </a:r>
            <a:r>
              <a:rPr lang="en-US" dirty="0"/>
              <a:t>(</a:t>
            </a:r>
            <a:r>
              <a:rPr lang="en-US" dirty="0">
                <a:hlinkClick r:id="rId2"/>
              </a:rPr>
              <a:t>https://www.ieee.org/conferences/publishing/templates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Bahasa Inggris minimal 8 halaman</a:t>
            </a:r>
          </a:p>
          <a:p>
            <a:pPr lvl="1"/>
            <a:r>
              <a:rPr lang="en-US" dirty="0"/>
              <a:t>Deadline laporan : Rabu 24 Juni 2026 (Softcopy)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193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B95CE-026F-5D3C-4C7B-61EA1C610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0B30-1EB1-31F5-2C9D-406E25889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190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Template Presentasi Final    Tugas Project</a:t>
            </a:r>
            <a:br>
              <a:rPr lang="en-US" dirty="0"/>
            </a:br>
            <a:r>
              <a:rPr lang="en-US" dirty="0"/>
              <a:t>ET4243</a:t>
            </a:r>
          </a:p>
        </p:txBody>
      </p:sp>
    </p:spTree>
    <p:extLst>
      <p:ext uri="{BB962C8B-B14F-4D97-AF65-F5344CB8AC3E}">
        <p14:creationId xmlns:p14="http://schemas.microsoft.com/office/powerpoint/2010/main" val="729758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BB223-5DAF-6357-5EF2-6359F57E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Judul (1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F99F4-53EA-C2EE-A04F-371324819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Judul Project:</a:t>
            </a:r>
          </a:p>
          <a:p>
            <a:r>
              <a:rPr lang="en-US" dirty="0"/>
              <a:t>Anggota Time &amp; Peran masing-masing:</a:t>
            </a:r>
          </a:p>
          <a:p>
            <a:r>
              <a:rPr lang="en-US" dirty="0"/>
              <a:t>Acknowledgment (jika ada)</a:t>
            </a:r>
          </a:p>
        </p:txBody>
      </p:sp>
    </p:spTree>
    <p:extLst>
      <p:ext uri="{BB962C8B-B14F-4D97-AF65-F5344CB8AC3E}">
        <p14:creationId xmlns:p14="http://schemas.microsoft.com/office/powerpoint/2010/main" val="565281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4527-C486-3A28-BB18-6C50DE401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Formulasi Masalah &amp; Motivasi (2–3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117BB-52E0-93A5-F015-99F7B8BD3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Apa problem telekomunikai yang diangkat?</a:t>
            </a:r>
          </a:p>
          <a:p>
            <a:r>
              <a:rPr lang="en-US" dirty="0"/>
              <a:t>Mengapa problem ini penting?</a:t>
            </a:r>
          </a:p>
          <a:p>
            <a:r>
              <a:rPr lang="en-US" dirty="0"/>
              <a:t>Tantangan saat ini atau keterbatasan metoda tradisional</a:t>
            </a:r>
          </a:p>
          <a:p>
            <a:r>
              <a:rPr lang="en-US" dirty="0"/>
              <a:t>Real-world impact atau aplikasi penerapan (mis., 5G, deteksi modulasi, dll)</a:t>
            </a:r>
          </a:p>
        </p:txBody>
      </p:sp>
    </p:spTree>
    <p:extLst>
      <p:ext uri="{BB962C8B-B14F-4D97-AF65-F5344CB8AC3E}">
        <p14:creationId xmlns:p14="http://schemas.microsoft.com/office/powerpoint/2010/main" val="3762565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C9809-35DD-887F-A8A4-502B8042E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Deskripsi Data (2–3 min) </a:t>
            </a:r>
            <a:br>
              <a:rPr lang="en-US" dirty="0"/>
            </a:br>
            <a:r>
              <a:rPr lang="en-US" sz="3200" dirty="0"/>
              <a:t>Sesuaikan untuk 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CD441-8A7F-8C95-9E62-CAEFF53B3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Sumber data (real-world, simulasi, dataset publik, dll.)</a:t>
            </a:r>
          </a:p>
          <a:p>
            <a:r>
              <a:rPr lang="en-US" dirty="0"/>
              <a:t>Feature dan label (input/output)</a:t>
            </a:r>
          </a:p>
          <a:p>
            <a:r>
              <a:rPr lang="en-US" dirty="0"/>
              <a:t>Preprocessing (normalization, feature engineering, dll.)</a:t>
            </a:r>
          </a:p>
          <a:p>
            <a:r>
              <a:rPr lang="en-US" dirty="0"/>
              <a:t>Data Training, Data Validasi, Data Testing</a:t>
            </a:r>
          </a:p>
        </p:txBody>
      </p:sp>
    </p:spTree>
    <p:extLst>
      <p:ext uri="{BB962C8B-B14F-4D97-AF65-F5344CB8AC3E}">
        <p14:creationId xmlns:p14="http://schemas.microsoft.com/office/powerpoint/2010/main" val="2480973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726AF-4AC4-5C58-6407-A87140F2C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Pendekatan AI/Machine Learning (3–4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4F994-5A12-BA69-36A4-F5575CB67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Pemilihan metoda AI/ML</a:t>
            </a:r>
          </a:p>
          <a:p>
            <a:r>
              <a:rPr lang="en-US" dirty="0"/>
              <a:t>Klasifikasi masalah (mis., classification, regression, clustering, lainnya jelaskan)</a:t>
            </a:r>
          </a:p>
          <a:p>
            <a:r>
              <a:rPr lang="en-US" dirty="0"/>
              <a:t>Mengapa metoda ini yang dipilih (justifikasi)</a:t>
            </a:r>
          </a:p>
          <a:p>
            <a:r>
              <a:rPr lang="en-US" dirty="0"/>
              <a:t>Arsitektur Model dan parameter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952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FADF5-7A62-5744-1B5B-F61094907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 dan Coding ML (2–3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A0C87-EE19-3133-5354-9ECD3D47A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Penjelasan Software/Hardware dan environment yang digunakan (mis., Python, Scikit-learn, TensorFlow, dll)</a:t>
            </a:r>
          </a:p>
          <a:p>
            <a:r>
              <a:rPr lang="en-US" dirty="0"/>
              <a:t>Penjelasan singkat code/script dari model yang dikembangkan</a:t>
            </a:r>
          </a:p>
          <a:p>
            <a:r>
              <a:rPr lang="en-US" dirty="0"/>
              <a:t>Lebih direkomendasikan Flowchart atau Pseudocode</a:t>
            </a:r>
          </a:p>
        </p:txBody>
      </p:sp>
    </p:spTree>
    <p:extLst>
      <p:ext uri="{BB962C8B-B14F-4D97-AF65-F5344CB8AC3E}">
        <p14:creationId xmlns:p14="http://schemas.microsoft.com/office/powerpoint/2010/main" val="1745243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4A0B5-8429-FE9A-178B-49DAC776F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Pembangunan ModelTraining (3–4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F3641-2B51-6724-F6DB-EBB0750CF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Training/testing split </a:t>
            </a:r>
          </a:p>
          <a:p>
            <a:r>
              <a:rPr lang="en-US" dirty="0"/>
              <a:t>Validasi: Strategi cross-validation atau data validasi</a:t>
            </a:r>
          </a:p>
          <a:p>
            <a:r>
              <a:rPr lang="en-US" dirty="0"/>
              <a:t>Hyper-parameter optimization</a:t>
            </a:r>
          </a:p>
          <a:p>
            <a:r>
              <a:rPr lang="en-US" dirty="0"/>
              <a:t>Isu-isu yang dijumpai dalam pengembangan model dan solusinya</a:t>
            </a:r>
          </a:p>
        </p:txBody>
      </p:sp>
    </p:spTree>
    <p:extLst>
      <p:ext uri="{BB962C8B-B14F-4D97-AF65-F5344CB8AC3E}">
        <p14:creationId xmlns:p14="http://schemas.microsoft.com/office/powerpoint/2010/main" val="2281947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BB0DA-9B94-8549-D4ED-D3D1FFCDA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A0F6B-F9C2-E949-69AC-A52D09AEC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&amp; Evaluasi Model (3–4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C376C-6C1B-94F4-F9A9-C23806747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Metrik evaluasi (accuracy, precision, F1-score, confusion matrix, lainnya.)</a:t>
            </a:r>
          </a:p>
          <a:p>
            <a:r>
              <a:rPr lang="en-US" dirty="0"/>
              <a:t>Perbandingan baseline (optional tetapi direkomendasikan)</a:t>
            </a:r>
          </a:p>
          <a:p>
            <a:r>
              <a:rPr lang="en-US" dirty="0"/>
              <a:t>Isu-isu yang dijumpai dan solusinya</a:t>
            </a:r>
          </a:p>
        </p:txBody>
      </p:sp>
    </p:spTree>
    <p:extLst>
      <p:ext uri="{BB962C8B-B14F-4D97-AF65-F5344CB8AC3E}">
        <p14:creationId xmlns:p14="http://schemas.microsoft.com/office/powerpoint/2010/main" val="1416668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3799C-A691-836B-54CF-989DC54C1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Hasil &amp; Diskusi (2–3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86EEC-3BE6-B3F7-1D55-74128B6E9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results (visual: plots, graphs, tabel)</a:t>
            </a:r>
          </a:p>
          <a:p>
            <a:r>
              <a:rPr lang="en-US" dirty="0"/>
              <a:t>Interpretasi hasil dalam konteks masalah telekomunikasi</a:t>
            </a:r>
          </a:p>
          <a:p>
            <a:r>
              <a:rPr lang="en-US" dirty="0"/>
              <a:t>Kelebihan dan keterbatasan pendekatan</a:t>
            </a:r>
          </a:p>
        </p:txBody>
      </p:sp>
    </p:spTree>
    <p:extLst>
      <p:ext uri="{BB962C8B-B14F-4D97-AF65-F5344CB8AC3E}">
        <p14:creationId xmlns:p14="http://schemas.microsoft.com/office/powerpoint/2010/main" val="2662692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26ADE-16F5-FEA5-B90F-9CC41E97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kesimpulan &amp; Pekerjaan Kedepan (1–2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D53A3-62E2-386E-7D0E-FFBDC4341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Ringkasan capaian</a:t>
            </a:r>
          </a:p>
          <a:p>
            <a:r>
              <a:rPr lang="en-US" dirty="0"/>
              <a:t>Potensi perbaikan atau perluasan (mis., data yang lebih baik, model yang lebih advanced, penggelaran secara real-world)</a:t>
            </a:r>
          </a:p>
          <a:p>
            <a:r>
              <a:rPr lang="en-US" dirty="0"/>
              <a:t>Kelayakan implementasi real-world </a:t>
            </a:r>
          </a:p>
        </p:txBody>
      </p:sp>
    </p:spTree>
    <p:extLst>
      <p:ext uri="{BB962C8B-B14F-4D97-AF65-F5344CB8AC3E}">
        <p14:creationId xmlns:p14="http://schemas.microsoft.com/office/powerpoint/2010/main" val="1460277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3AE9B-97B6-F927-BB50-E153065F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 Session (2–3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40CA4-BB8C-8991-022E-D286BAA00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606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D00F-D0B2-4897-CD03-AAC76A809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Overall Evaluation Rubric (Sample Score Sheet)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B6D328-3728-E7BB-3352-CA18335780FA}"/>
              </a:ext>
            </a:extLst>
          </p:cNvPr>
          <p:cNvGraphicFramePr>
            <a:graphicFrameLocks noGrp="1"/>
          </p:cNvGraphicFramePr>
          <p:nvPr/>
        </p:nvGraphicFramePr>
        <p:xfrm>
          <a:off x="1800759" y="1741364"/>
          <a:ext cx="7853879" cy="4925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6052">
                  <a:extLst>
                    <a:ext uri="{9D8B030D-6E8A-4147-A177-3AD203B41FA5}">
                      <a16:colId xmlns:a16="http://schemas.microsoft.com/office/drawing/2014/main" val="2233326321"/>
                    </a:ext>
                  </a:extLst>
                </a:gridCol>
                <a:gridCol w="2227827">
                  <a:extLst>
                    <a:ext uri="{9D8B030D-6E8A-4147-A177-3AD203B41FA5}">
                      <a16:colId xmlns:a16="http://schemas.microsoft.com/office/drawing/2014/main" val="1034232016"/>
                    </a:ext>
                  </a:extLst>
                </a:gridCol>
              </a:tblGrid>
              <a:tr h="4104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Bagian Presentasi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Nilai 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306985"/>
                  </a:ext>
                </a:extLst>
              </a:tr>
              <a:tr h="410424">
                <a:tc>
                  <a:txBody>
                    <a:bodyPr/>
                    <a:lstStyle/>
                    <a:p>
                      <a:r>
                        <a:rPr lang="en-US" dirty="0"/>
                        <a:t>Problem Definition &amp; Motivation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032909"/>
                  </a:ext>
                </a:extLst>
              </a:tr>
              <a:tr h="410424">
                <a:tc>
                  <a:txBody>
                    <a:bodyPr/>
                    <a:lstStyle/>
                    <a:p>
                      <a:r>
                        <a:rPr lang="en-US" dirty="0"/>
                        <a:t>Data Understanding &amp; Preprocessing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017363"/>
                  </a:ext>
                </a:extLst>
              </a:tr>
              <a:tr h="410424">
                <a:tc>
                  <a:txBody>
                    <a:bodyPr/>
                    <a:lstStyle/>
                    <a:p>
                      <a:r>
                        <a:rPr lang="en-US" dirty="0"/>
                        <a:t>Methodology &amp; ML Approach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440095"/>
                  </a:ext>
                </a:extLst>
              </a:tr>
              <a:tr h="410424">
                <a:tc>
                  <a:txBody>
                    <a:bodyPr/>
                    <a:lstStyle/>
                    <a:p>
                      <a:r>
                        <a:rPr lang="en-US" dirty="0"/>
                        <a:t>Script dan Coding ML (2–3 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020769"/>
                  </a:ext>
                </a:extLst>
              </a:tr>
              <a:tr h="410424">
                <a:tc>
                  <a:txBody>
                    <a:bodyPr/>
                    <a:lstStyle/>
                    <a:p>
                      <a:r>
                        <a:rPr lang="en-US" dirty="0"/>
                        <a:t>Evaluation Strategy &amp; Metrics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491396"/>
                  </a:ext>
                </a:extLst>
              </a:tr>
              <a:tr h="410424">
                <a:tc>
                  <a:txBody>
                    <a:bodyPr/>
                    <a:lstStyle/>
                    <a:p>
                      <a:r>
                        <a:rPr lang="en-US" dirty="0"/>
                        <a:t>Results Interpretation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359913"/>
                  </a:ext>
                </a:extLst>
              </a:tr>
              <a:tr h="410424">
                <a:tc>
                  <a:txBody>
                    <a:bodyPr/>
                    <a:lstStyle/>
                    <a:p>
                      <a:r>
                        <a:rPr lang="en-US" dirty="0"/>
                        <a:t>Technical Depth &amp; Originality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925629"/>
                  </a:ext>
                </a:extLst>
              </a:tr>
              <a:tr h="410424">
                <a:tc>
                  <a:txBody>
                    <a:bodyPr/>
                    <a:lstStyle/>
                    <a:p>
                      <a:r>
                        <a:rPr lang="en-US" dirty="0"/>
                        <a:t>Presentation Clarity &amp; Structure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72266"/>
                  </a:ext>
                </a:extLst>
              </a:tr>
              <a:tr h="410424">
                <a:tc>
                  <a:txBody>
                    <a:bodyPr/>
                    <a:lstStyle/>
                    <a:p>
                      <a:r>
                        <a:rPr lang="en-US" dirty="0"/>
                        <a:t>Team Collaboration &amp; Q&amp;A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457310"/>
                  </a:ext>
                </a:extLst>
              </a:tr>
              <a:tr h="410424">
                <a:tc>
                  <a:txBody>
                    <a:bodyPr/>
                    <a:lstStyle/>
                    <a:p>
                      <a:r>
                        <a:rPr lang="en-US" dirty="0"/>
                        <a:t>Nilai Presentasi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502613"/>
                  </a:ext>
                </a:extLst>
              </a:tr>
              <a:tr h="41042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Bagian Laporan Tertulis format paper IEEE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262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555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1D535-CB92-6E18-C29E-961AEF44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D910-4B8D-76BF-C669-F07B1682CD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Outline Artikel Format IEEE Tugas ET4243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26835-9C3F-8C1A-8C42-239AEC66E3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530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3537-A2AA-2044-E5DF-3D3CA12C2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Research Article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C0B4B-0AF9-8B0F-0EC8-A4DE35A07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Title</a:t>
            </a:r>
            <a:r>
              <a:rPr lang="en-US" dirty="0"/>
              <a:t> (Judul Makalah):</a:t>
            </a:r>
          </a:p>
          <a:p>
            <a:pPr marL="457200" lvl="1" indent="0">
              <a:buNone/>
            </a:pPr>
            <a:r>
              <a:rPr lang="en-US" dirty="0"/>
              <a:t>Ringkas, informatif, termasuk kata kunci seperti "Machine Learning", “Deep Learning”, "Communication Networks", dan problem spesifik (mis., "Traffic Prediction", "Resource Allocation", dll.)</a:t>
            </a:r>
          </a:p>
        </p:txBody>
      </p:sp>
    </p:spTree>
    <p:extLst>
      <p:ext uri="{BB962C8B-B14F-4D97-AF65-F5344CB8AC3E}">
        <p14:creationId xmlns:p14="http://schemas.microsoft.com/office/powerpoint/2010/main" val="1847248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E10C-C694-4F55-FC68-20CBAE04F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Abstract</a:t>
            </a:r>
            <a:r>
              <a:rPr lang="en-US" dirty="0"/>
              <a:t> (150–250 words)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82BBF-1212-3F39-A917-EBF070D88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Latar belakang singkat masalah komunikasi yang diangkat</a:t>
            </a:r>
          </a:p>
          <a:p>
            <a:r>
              <a:rPr lang="en-US" dirty="0"/>
              <a:t>Kontribusi utama: metode ML/DL/RL apa yang diterapkan dan mengapa</a:t>
            </a:r>
          </a:p>
          <a:p>
            <a:r>
              <a:rPr lang="en-US" dirty="0"/>
              <a:t>Ringkasan metodologi</a:t>
            </a:r>
          </a:p>
          <a:p>
            <a:r>
              <a:rPr lang="en-US" dirty="0"/>
              <a:t>Hasil utama dan insights</a:t>
            </a:r>
          </a:p>
          <a:p>
            <a:r>
              <a:rPr lang="en-US" dirty="0"/>
              <a:t>Keywords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857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D3C3-F257-BF1E-5B2A-9095E6FFC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A9687-CF6D-596F-07F6-C8BC9E1CB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Latar belakang masalah jaringan/sistem komunikasi (misalnya, Alokasi resources, estimasi kanal, deteksi anomali)</a:t>
            </a:r>
          </a:p>
          <a:p>
            <a:r>
              <a:rPr lang="en-US" dirty="0"/>
              <a:t>Mengapa metode konvensional kurang memadai</a:t>
            </a:r>
          </a:p>
          <a:p>
            <a:r>
              <a:rPr lang="en-US" dirty="0"/>
              <a:t>Motivasi penggunaan Pembelajaran Mesin</a:t>
            </a:r>
          </a:p>
          <a:p>
            <a:r>
              <a:rPr lang="en-US" dirty="0"/>
              <a:t>Kontribusi makalah:</a:t>
            </a:r>
          </a:p>
          <a:p>
            <a:pPr lvl="1"/>
            <a:r>
              <a:rPr lang="en-US" dirty="0"/>
              <a:t>Masalah yang ditangani</a:t>
            </a:r>
          </a:p>
          <a:p>
            <a:pPr lvl="1"/>
            <a:r>
              <a:rPr lang="en-US" dirty="0"/>
              <a:t>Teknik ML yang digunakan</a:t>
            </a:r>
          </a:p>
          <a:p>
            <a:pPr lvl="1"/>
            <a:r>
              <a:rPr lang="en-US" dirty="0"/>
              <a:t>Hasil atau peningkatan dibandingkan metode eksisting</a:t>
            </a:r>
          </a:p>
          <a:p>
            <a:r>
              <a:rPr lang="en-US" dirty="0"/>
              <a:t>Struktur makalah</a:t>
            </a:r>
          </a:p>
        </p:txBody>
      </p:sp>
    </p:spTree>
    <p:extLst>
      <p:ext uri="{BB962C8B-B14F-4D97-AF65-F5344CB8AC3E}">
        <p14:creationId xmlns:p14="http://schemas.microsoft.com/office/powerpoint/2010/main" val="2389078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F29FB-564B-1807-B646-5B729DD34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Related Work</a:t>
            </a:r>
            <a:r>
              <a:rPr lang="en-US" baseline="30000" dirty="0"/>
              <a:t>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7CD1F-D181-3543-DB53-2AD1C8AF0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Overview of prior work using ML in similar telecom/networking problems Comparison of existing approaches</a:t>
            </a:r>
          </a:p>
          <a:p>
            <a:r>
              <a:rPr lang="en-US" dirty="0"/>
              <a:t>Gaps or limitations in prior work that your method addresses</a:t>
            </a:r>
          </a:p>
          <a:p>
            <a:r>
              <a:rPr lang="en-US" dirty="0"/>
              <a:t>Gambaran umum pekerjaan sebelumnya yang relevan (related) </a:t>
            </a:r>
          </a:p>
          <a:p>
            <a:r>
              <a:rPr lang="en-US" dirty="0"/>
              <a:t>State of the Art dari topik yang dibahas</a:t>
            </a:r>
          </a:p>
          <a:p>
            <a:r>
              <a:rPr lang="en-US" dirty="0"/>
              <a:t>Kesenjangan atau keterbatasan dalam pekerjaan sebelumnya yang diatasi oleh metode Anda.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aseline="30000" dirty="0"/>
              <a:t>*</a:t>
            </a:r>
            <a:r>
              <a:rPr lang="en-US" sz="1800" dirty="0"/>
              <a:t>boleh dibantu AI mis claude, dll sebagai bahan awal dan diolah lebih lanjut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11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4C7BF-0B9E-1E60-EFDC-C141B2BD8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46E87-5197-6766-2B26-17ACEA342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Bagian ini penjelasan kontribusi utama dari makalah ini</a:t>
            </a:r>
          </a:p>
          <a:p>
            <a:r>
              <a:rPr lang="en-US" dirty="0"/>
              <a:t>Detail dari model/sistem/algoritma/disain yang anda usulkan</a:t>
            </a:r>
          </a:p>
          <a:p>
            <a:r>
              <a:rPr lang="en-US" dirty="0"/>
              <a:t>Selain narasi, gunakan pseudo-code, flowcharts, atau diagram untuk memudahkan memahami usulan anda</a:t>
            </a:r>
          </a:p>
        </p:txBody>
      </p:sp>
    </p:spTree>
    <p:extLst>
      <p:ext uri="{BB962C8B-B14F-4D97-AF65-F5344CB8AC3E}">
        <p14:creationId xmlns:p14="http://schemas.microsoft.com/office/powerpoint/2010/main" val="3342474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F298F-2848-DDB1-8372-D25FB08E2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38D28-7C85-6E5E-6C18-60DB89B39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Setup eksperimen: jelaskan arsitektur, environment, tools yang digunakan (mis. Python, MATLAB, dll.), proses training, validasi, testing, dll.</a:t>
            </a:r>
          </a:p>
          <a:p>
            <a:endParaRPr lang="en-US" dirty="0"/>
          </a:p>
          <a:p>
            <a:r>
              <a:rPr lang="en-US" dirty="0"/>
              <a:t>Hasil dan Analisa: Sajikan data dan hasil anda menggunakan metrik evaluasi yang sesuai (mis.  accuracy, precision, delay, bandwidth usage) dalam bentuk  grafik, tabel, bar charts, dll.)</a:t>
            </a:r>
          </a:p>
          <a:p>
            <a:endParaRPr lang="en-US" dirty="0"/>
          </a:p>
          <a:p>
            <a:r>
              <a:rPr lang="en-US" dirty="0"/>
              <a:t>Diskusi: tidak hanya menyatakan apa yang ditunjukkan tabel/grafik; tapi juga sampaikan</a:t>
            </a:r>
          </a:p>
          <a:p>
            <a:pPr lvl="1"/>
            <a:r>
              <a:rPr lang="en-US" dirty="0"/>
              <a:t>Strengths and observed patterns</a:t>
            </a:r>
          </a:p>
          <a:p>
            <a:pPr lvl="1"/>
            <a:r>
              <a:rPr lang="en-US" dirty="0"/>
              <a:t>Limitations or failure cases of your approach</a:t>
            </a:r>
          </a:p>
          <a:p>
            <a:pPr lvl="1"/>
            <a:r>
              <a:rPr lang="en-US" dirty="0"/>
              <a:t>Scalability and real-world deployment feasibility</a:t>
            </a:r>
          </a:p>
          <a:p>
            <a:pPr lvl="1"/>
            <a:r>
              <a:rPr lang="en-US" dirty="0"/>
              <a:t>Comparisons to theoretical expectations or upper bounds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890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4C902-669C-1ACD-E3D3-A70939BD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9B68B-0777-33CB-4373-4E8E110E6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Ringkaskan kontribusi dan temuan utama</a:t>
            </a:r>
          </a:p>
          <a:p>
            <a:r>
              <a:rPr lang="en-US" dirty="0"/>
              <a:t>Potensi peningkatan (misalnya dataset yang lebih besar, model hibrida)</a:t>
            </a:r>
          </a:p>
          <a:p>
            <a:r>
              <a:rPr lang="en-US" dirty="0"/>
              <a:t>Aplikasi masa depan di jaringan generasi berikutnya (misalnya, Beyond 5G/6G)</a:t>
            </a:r>
          </a:p>
        </p:txBody>
      </p:sp>
    </p:spTree>
    <p:extLst>
      <p:ext uri="{BB962C8B-B14F-4D97-AF65-F5344CB8AC3E}">
        <p14:creationId xmlns:p14="http://schemas.microsoft.com/office/powerpoint/2010/main" val="3657232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28DD4-3AEC-387C-6252-AFB187D09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ED1FB-5C42-6B91-C262-280C4C539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Ikuti IEEE citation style (numbered format).</a:t>
            </a:r>
          </a:p>
          <a:p>
            <a:r>
              <a:rPr lang="en-US" dirty="0"/>
              <a:t>Referensi cukup memadai (jumlah, relevansi, lemutakhiran) </a:t>
            </a:r>
          </a:p>
        </p:txBody>
      </p:sp>
    </p:spTree>
    <p:extLst>
      <p:ext uri="{BB962C8B-B14F-4D97-AF65-F5344CB8AC3E}">
        <p14:creationId xmlns:p14="http://schemas.microsoft.com/office/powerpoint/2010/main" val="2231924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1983</TotalTime>
  <Words>882</Words>
  <Application>Microsoft Macintosh PowerPoint</Application>
  <PresentationFormat>Widescreen</PresentationFormat>
  <Paragraphs>130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Penilaian Tugas Project ET4243</vt:lpstr>
      <vt:lpstr>Penilian Tugas Project</vt:lpstr>
      <vt:lpstr>Template Presentasi Final    Tugas Project ET4243</vt:lpstr>
      <vt:lpstr>Judul (1 min)</vt:lpstr>
      <vt:lpstr>Formulasi Masalah &amp; Motivasi (2–3 min)</vt:lpstr>
      <vt:lpstr>Deskripsi Data (2–3 min)  Sesuaikan untuk RL</vt:lpstr>
      <vt:lpstr>Pendekatan AI/Machine Learning (3–4 min)</vt:lpstr>
      <vt:lpstr>Script dan Coding ML (2–3 min)</vt:lpstr>
      <vt:lpstr>Pembangunan ModelTraining (3–4 min)</vt:lpstr>
      <vt:lpstr>Testing &amp; Evaluasi Model (3–4 min)</vt:lpstr>
      <vt:lpstr>Hasil &amp; Diskusi (2–3 min)</vt:lpstr>
      <vt:lpstr>kesimpulan &amp; Pekerjaan Kedepan (1–2 min)</vt:lpstr>
      <vt:lpstr>Q&amp;A Session (2–3 min)</vt:lpstr>
      <vt:lpstr>Overall Evaluation Rubric (Sample Score Sheet)</vt:lpstr>
      <vt:lpstr>Outline Artikel Format IEEE Tugas ET4243</vt:lpstr>
      <vt:lpstr>IEEE Research Article Outline</vt:lpstr>
      <vt:lpstr>Abstract (150–250 words)</vt:lpstr>
      <vt:lpstr>Introduction</vt:lpstr>
      <vt:lpstr>Related Work*</vt:lpstr>
      <vt:lpstr>Methodology</vt:lpstr>
      <vt:lpstr>Experimental Results</vt:lpstr>
      <vt:lpstr>Conclusion and 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Ir. Hendrawan, M.Sc., Ph.D.</dc:creator>
  <cp:lastModifiedBy>Ir. Hendrawan, M.Sc., Ph.D.</cp:lastModifiedBy>
  <cp:revision>15</cp:revision>
  <dcterms:created xsi:type="dcterms:W3CDTF">2025-06-03T05:46:09Z</dcterms:created>
  <dcterms:modified xsi:type="dcterms:W3CDTF">2026-05-20T04:33:03Z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2025-06-03T06:18:13Z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f1059294-717c-4e44-9f15-7471ad2a82dc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50, 3, 0, 1</vt:lpwstr>
  </property>
</Properties>
</file>